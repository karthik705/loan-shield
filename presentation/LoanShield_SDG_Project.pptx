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290" autoAdjust="0"/>
  </p:normalViewPr>
  <p:slideViewPr>
    <p:cSldViewPr snapToGrid="0" snapToObjects="1">
      <p:cViewPr varScale="1">
        <p:scale>
          <a:sx n="77" d="100"/>
          <a:sy n="77" d="100"/>
        </p:scale>
        <p:origin x="696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CE02E-1AB5-4B8B-99DA-286EE9ACB09B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53304-9993-45A0-94F2-DD43ED758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16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problem: illegal loan apps harass borrowers with threats like these. Part 1 frames it through four SDGs; Part 2 presents our solution, LoanShield.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53304-9993-45A0-94F2-DD43ED7588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38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Connect SDG 1,8,10 to 16.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the scenario of a victim.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how they get threatened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why the scammers escape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Explain why people lose trust in the institutions.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53304-9993-45A0-94F2-DD43ED7588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90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from Part 1. One line per box: how people get trapped, how they are threatened, why the operators escape. Then: what is missing is a way for victims to fight back with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objectives. The first four are what the website does; five and six are delivered through community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one-line idea: their threats become evidence. Three verbs: flip, seal, link. Show the live website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The website handles Detect and Protect. Prevent, Respond and Reform are run by SHGs, NGO counsellors, legal-aid clinics and student volunteers.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paste the example message, show the cards flipping, then the case tracker filling up. Everything is checked on the phone; nothing is uploaded unless the victim shares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light: everything runs in a normal phone browser, needs no app and costs almost nothing to run. The point is reach, not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people trapped are those least used to smartphones. The website asks first: do it yourself or get assistance. Help desks at SHG meetings reach people with no smartphone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to "isn’t the leaked photo still humiliating?": yes, so the response is takedown plus support, not just evidence. Warn contacts first, take it down within hours, block re-uploads, and let a counsellor do it so the victim never sees it again. WhatsApp copies cannot be deleted from other phones, which is why the early warning matters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"isn’t this a spam checker?": spam checkers block a number. We answer the fear, build evidence and link victims together by the money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SDG 16: the core harm is intimidation and no access to justice, and that is what LoanShield attacks directly. SDGs 1, 8 and 10 are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Funding and people come from cyber-safety NGOs and CSR, not from government programmes. These are organisations we plan to approach; none has committed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limits. Scanner results on our test set: 100% recall, 86% precision, but on team-written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is the most important next step: it gives real data to replace our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60920" y="411480"/>
            <a:ext cx="4754880" cy="4754880"/>
          </a:xfrm>
          <a:prstGeom prst="ellipse">
            <a:avLst/>
          </a:prstGeom>
          <a:solidFill>
            <a:srgbClr val="2A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3246851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324685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63946"/>
                </a:solidFill>
                <a:latin typeface="Poppins"/>
              </a:rPr>
              <a:t>SOCIAL &amp; SUSTAINABILITY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4EEEC"/>
                </a:solidFill>
                <a:latin typeface="Poppins"/>
              </a:rPr>
              <a:t>Digital Loan App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4400" b="1">
                <a:solidFill>
                  <a:srgbClr val="E63946"/>
                </a:solidFill>
                <a:latin typeface="Poppins"/>
              </a:rPr>
              <a:t>Harassment</a:t>
            </a:r>
            <a:r>
              <a:rPr sz="4400" b="1">
                <a:solidFill>
                  <a:srgbClr val="F4EEEC"/>
                </a:solidFill>
                <a:latin typeface="Poppins"/>
              </a:rPr>
              <a:t> in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063240"/>
            <a:ext cx="1188720" cy="5486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CFC4C3"/>
                </a:solidFill>
                <a:latin typeface="Poppins"/>
              </a:rPr>
              <a:t>Framing the crisis through the UN SDGs,</a:t>
            </a:r>
          </a:p>
          <a:p>
            <a:pPr algn="l">
              <a:spcBef>
                <a:spcPts val="500"/>
              </a:spcBef>
            </a:pPr>
            <a:r>
              <a:rPr sz="1700" b="0">
                <a:solidFill>
                  <a:srgbClr val="CFC4C3"/>
                </a:solidFill>
                <a:latin typeface="Poppins"/>
              </a:rPr>
              <a:t>and our solution: LoanShield.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262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90472" y="45262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EEEC"/>
                </a:solidFill>
                <a:latin typeface="Poppins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2264" y="45262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12264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EEEC"/>
                </a:solidFill>
                <a:latin typeface="Poppins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4056" y="452628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6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4526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EEEC"/>
                </a:solidFill>
                <a:latin typeface="Poppins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52628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8E8C"/>
                </a:solidFill>
                <a:latin typeface="Poppins"/>
              </a:rPr>
              <a:t>Four SDGs, one problem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77840"/>
            <a:ext cx="2606040" cy="18288"/>
          </a:xfrm>
          <a:prstGeom prst="rect">
            <a:avLst/>
          </a:prstGeom>
          <a:solidFill>
            <a:srgbClr val="3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87568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4EEEC"/>
                </a:solidFill>
                <a:latin typeface="Poppins"/>
              </a:rPr>
              <a:t>Karthik 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A261"/>
                </a:solidFill>
                <a:latin typeface="Poppins"/>
              </a:rPr>
              <a:t>23BRS1191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5577840"/>
            <a:ext cx="2606040" cy="18288"/>
          </a:xfrm>
          <a:prstGeom prst="rect">
            <a:avLst/>
          </a:prstGeom>
          <a:solidFill>
            <a:srgbClr val="3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687568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4EEEC"/>
                </a:solidFill>
                <a:latin typeface="Poppins"/>
              </a:rPr>
              <a:t>K Annu Prasath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9893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A261"/>
                </a:solidFill>
                <a:latin typeface="Poppins"/>
              </a:rPr>
              <a:t>24BCE5409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77840"/>
            <a:ext cx="2606040" cy="18288"/>
          </a:xfrm>
          <a:prstGeom prst="rect">
            <a:avLst/>
          </a:prstGeom>
          <a:solidFill>
            <a:srgbClr val="3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687568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4EEEC"/>
                </a:solidFill>
                <a:latin typeface="Poppins"/>
              </a:rPr>
              <a:t>Pasunuru Sai Vivek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9893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A261"/>
                </a:solidFill>
                <a:latin typeface="Poppins"/>
              </a:rPr>
              <a:t>24BCE1239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39" y="5577840"/>
            <a:ext cx="2606040" cy="18288"/>
          </a:xfrm>
          <a:prstGeom prst="rect">
            <a:avLst/>
          </a:prstGeom>
          <a:solidFill>
            <a:srgbClr val="3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39" y="5687568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4EEEC"/>
                </a:solidFill>
                <a:latin typeface="Poppins"/>
              </a:rPr>
              <a:t>Srinidhi Vishal Chejarla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39" y="598932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A261"/>
                </a:solidFill>
                <a:latin typeface="Poppins"/>
              </a:rPr>
              <a:t>24BCE1493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685800"/>
            <a:ext cx="2880360" cy="4572000"/>
          </a:xfrm>
          <a:prstGeom prst="roundRect">
            <a:avLst>
              <a:gd name="adj" fmla="val 10000"/>
            </a:avLst>
          </a:prstGeom>
          <a:solidFill>
            <a:srgbClr val="1A1414"/>
          </a:solidFill>
          <a:ln w="254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822960"/>
            <a:ext cx="2606040" cy="4297680"/>
          </a:xfrm>
          <a:prstGeom prst="roundRect">
            <a:avLst>
              <a:gd name="adj" fmla="val 8000"/>
            </a:avLst>
          </a:prstGeom>
          <a:solidFill>
            <a:srgbClr val="20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26880" y="914400"/>
            <a:ext cx="777240" cy="91440"/>
          </a:xfrm>
          <a:prstGeom prst="roundRect">
            <a:avLst>
              <a:gd name="adj" fmla="val 50000"/>
            </a:avLst>
          </a:prstGeom>
          <a:solidFill>
            <a:srgbClr val="3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11430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4EEEC"/>
                </a:solidFill>
                <a:latin typeface="Poppins"/>
              </a:rPr>
              <a:t>Recovery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3716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Today, 10:42 pm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1783080"/>
            <a:ext cx="2240280" cy="777240"/>
          </a:xfrm>
          <a:prstGeom prst="roundRect">
            <a:avLst>
              <a:gd name="adj" fmla="val 18000"/>
            </a:avLst>
          </a:prstGeom>
          <a:solidFill>
            <a:srgbClr val="2E1A1A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1856231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EAD9DA"/>
                </a:solidFill>
                <a:latin typeface="Poppins"/>
              </a:rPr>
              <a:t>Pay ₹6,200 in 2 hours or your photo goes to all your contacts.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5360" y="2743200"/>
            <a:ext cx="2240280" cy="777240"/>
          </a:xfrm>
          <a:prstGeom prst="roundRect">
            <a:avLst>
              <a:gd name="adj" fmla="val 18000"/>
            </a:avLst>
          </a:prstGeom>
          <a:solidFill>
            <a:srgbClr val="2E1A1A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2816352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EAD9DA"/>
                </a:solidFill>
                <a:latin typeface="Poppins"/>
              </a:rPr>
              <a:t>FIR ready. Police will arrest you tomorrow.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3703320"/>
            <a:ext cx="2240280" cy="777240"/>
          </a:xfrm>
          <a:prstGeom prst="roundRect">
            <a:avLst>
              <a:gd name="adj" fmla="val 18000"/>
            </a:avLst>
          </a:prstGeom>
          <a:solidFill>
            <a:srgbClr val="2E1A1A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3776472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EAD9DA"/>
                </a:solidFill>
                <a:latin typeface="Poppins"/>
              </a:rPr>
              <a:t>Your family will know you are a fraud.</a:t>
            </a:r>
          </a:p>
        </p:txBody>
      </p:sp>
      <p:sp>
        <p:nvSpPr>
          <p:cNvPr id="40" name="Oval 39"/>
          <p:cNvSpPr/>
          <p:nvPr/>
        </p:nvSpPr>
        <p:spPr>
          <a:xfrm>
            <a:off x="10607040" y="160020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16002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4EEEC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307592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307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THE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Illegal digital lending traps borrowers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03120"/>
            <a:ext cx="3179064" cy="20116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33172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31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331720"/>
            <a:ext cx="2310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Quick loans attract the vulnerable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52927"/>
            <a:ext cx="27218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Instant approval, no paperwork, aimed at people banks turn away.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6032" y="28346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63946"/>
                </a:solidFill>
                <a:latin typeface="Poppi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4944" y="2103120"/>
            <a:ext cx="3179064" cy="20116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33544" y="233172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3544" y="2331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3896" y="2331720"/>
            <a:ext cx="2310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Hidden fees deepen debt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3544" y="2852927"/>
            <a:ext cx="27218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Large cuts before the money arrives, then short deadlines and penalties.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8015" y="28346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63946"/>
                </a:solidFill>
                <a:latin typeface="Poppi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6928" y="2103120"/>
            <a:ext cx="3179064" cy="20116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5528" y="233172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5528" y="2331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5880" y="2331720"/>
            <a:ext cx="2310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Aggressive recovery tactics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5528" y="2852927"/>
            <a:ext cx="27218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Threats, blackmail and shaming when the borrower cannot pay.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57200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681728"/>
            <a:ext cx="54864" cy="5577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572000"/>
            <a:ext cx="99943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3946"/>
                </a:solidFill>
                <a:latin typeface="Poppins"/>
              </a:rPr>
              <a:t>The harm spreads: </a:t>
            </a:r>
            <a:r>
              <a:rPr sz="1350" b="0">
                <a:solidFill>
                  <a:srgbClr val="F4EEEC"/>
                </a:solidFill>
                <a:latin typeface="Poppins"/>
              </a:rPr>
              <a:t>families, workplaces and whole communities lose trust in digital finance.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329184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629460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6294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Harassment tactics &amp; real-world harm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5134355" cy="11430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76856"/>
            <a:ext cx="46771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3946"/>
                </a:solidFill>
                <a:latin typeface="Poppins"/>
              </a:rPr>
              <a:t>Threatening calls &amp;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62288"/>
            <a:ext cx="46771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Abusive language and fake legal notices create constant fear.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057400"/>
            <a:ext cx="5134355" cy="11430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0236" y="2276856"/>
            <a:ext cx="46771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Contact-list blackmail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0236" y="2562288"/>
            <a:ext cx="46771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Personal data is weaponised to shame and pressure borrowers.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134355" cy="11430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02736"/>
            <a:ext cx="46771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3946"/>
                </a:solidFill>
                <a:latin typeface="Poppins"/>
              </a:rPr>
              <a:t>Fear, stress &amp; family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88168"/>
            <a:ext cx="46771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Repeated harassment causes psychological harm and tears families apart.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3383280"/>
            <a:ext cx="5134355" cy="11430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0236" y="3602736"/>
            <a:ext cx="46771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Privacy violations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3888168"/>
            <a:ext cx="46771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Data misuse exposes victims and destroys trust in digital systems.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9204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2514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4A261"/>
                </a:solidFill>
                <a:latin typeface="Poppins"/>
              </a:rPr>
              <a:t>ACCESS WITHOUT PROTECTION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892040"/>
            <a:ext cx="2997403" cy="329184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892040"/>
            <a:ext cx="29974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4A261"/>
                </a:solidFill>
                <a:latin typeface="Poppins"/>
              </a:rPr>
              <a:t>NO INSTITUTIONAL ACCOUNTABILITY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92163" y="4892040"/>
            <a:ext cx="2836468" cy="329184"/>
          </a:xfrm>
          <a:prstGeom prst="roundRect">
            <a:avLst>
              <a:gd name="adj" fmla="val 50000"/>
            </a:avLst>
          </a:prstGeom>
          <a:solidFill>
            <a:srgbClr val="2A1A10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2163" y="4892040"/>
            <a:ext cx="28364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4A261"/>
                </a:solidFill>
                <a:latin typeface="Poppins"/>
              </a:rPr>
              <a:t>UNSUSTAINABLE DIGITAL FINANCE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864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548640"/>
            <a:ext cx="5486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8E8C"/>
                </a:solidFill>
                <a:latin typeface="Poppins"/>
              </a:rPr>
              <a:t>SDG 1</a:t>
            </a:r>
          </a:p>
          <a:p>
            <a:pPr algn="l">
              <a:spcBef>
                <a:spcPts val="0"/>
              </a:spcBef>
            </a:pPr>
            <a:r>
              <a:rPr sz="1800" b="1">
                <a:solidFill>
                  <a:srgbClr val="F4EEEC"/>
                </a:solidFill>
                <a:latin typeface="Poppins"/>
              </a:rPr>
              <a:t>No Poverty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Predatory lending creates a poverty trap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2430018" cy="15544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971800"/>
            <a:ext cx="384048" cy="384048"/>
          </a:xfrm>
          <a:prstGeom prst="ellipse">
            <a:avLst/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971800"/>
            <a:ext cx="15613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EEC"/>
                </a:solidFill>
                <a:latin typeface="Poppins"/>
              </a:rPr>
              <a:t>High charges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93008"/>
            <a:ext cx="197281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Push vulnerable households deeper into debt.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7297" y="2743200"/>
            <a:ext cx="2430018" cy="15544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55898" y="2971800"/>
            <a:ext cx="384048" cy="384048"/>
          </a:xfrm>
          <a:prstGeom prst="ellipse">
            <a:avLst/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5898" y="2971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6250" y="2971800"/>
            <a:ext cx="15613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EEC"/>
                </a:solidFill>
                <a:latin typeface="Poppins"/>
              </a:rPr>
              <a:t>Debt cycles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5898" y="3493008"/>
            <a:ext cx="197281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Forced to re-borrow just to survive.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2743200"/>
            <a:ext cx="2430018" cy="15544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0236" y="2971800"/>
            <a:ext cx="384048" cy="384048"/>
          </a:xfrm>
          <a:prstGeom prst="ellipse">
            <a:avLst/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0236" y="2971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0588" y="2971800"/>
            <a:ext cx="15613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EEC"/>
                </a:solidFill>
                <a:latin typeface="Poppins"/>
              </a:rPr>
              <a:t>Essential cuts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3493008"/>
            <a:ext cx="197281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Less spending on food, health and education.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5974" y="2743200"/>
            <a:ext cx="2430018" cy="15544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64574" y="2971800"/>
            <a:ext cx="384048" cy="384048"/>
          </a:xfrm>
          <a:prstGeom prst="ellipse">
            <a:avLst/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4574" y="29718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4926" y="2971800"/>
            <a:ext cx="156133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5243B"/>
                </a:solidFill>
                <a:latin typeface="Poppins"/>
              </a:rPr>
              <a:t>Financial ruin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3493008"/>
            <a:ext cx="197281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Poverty becomes impossible to escape.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0916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2A0E10"/>
          </a:solidFill>
          <a:ln w="12700">
            <a:solidFill>
              <a:srgbClr val="E5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818888"/>
            <a:ext cx="54864" cy="557784"/>
          </a:xfrm>
          <a:prstGeom prst="rect">
            <a:avLst/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709160"/>
            <a:ext cx="99943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E5243B"/>
                </a:solidFill>
                <a:latin typeface="Poppins"/>
              </a:rPr>
              <a:t>SDG 1: </a:t>
            </a:r>
            <a:r>
              <a:rPr sz="1350" b="0">
                <a:solidFill>
                  <a:srgbClr val="F4EEEC"/>
                </a:solidFill>
                <a:latin typeface="Poppins"/>
              </a:rPr>
              <a:t>predatory lending does not just cause debt. It makes poverty structurally harder to escape.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194560" y="356616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4EEEC"/>
                </a:solidFill>
                <a:latin typeface="Poppins"/>
              </a:rPr>
              <a:t>Unsafe lending undermines fair economic participation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088636" cy="42062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9050">
            <a:solidFill>
              <a:srgbClr val="A21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057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4EEEC"/>
                </a:solidFill>
                <a:latin typeface="Poppins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057400"/>
            <a:ext cx="33512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8E8C"/>
                </a:solidFill>
                <a:latin typeface="Poppins"/>
              </a:rPr>
              <a:t>SDG 8</a:t>
            </a: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4EEEC"/>
                </a:solidFill>
                <a:latin typeface="Poppins"/>
              </a:rPr>
              <a:t>Decent Work &amp; Economic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37560"/>
            <a:ext cx="44485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2557A"/>
                </a:solidFill>
                <a:latin typeface="Poppins"/>
              </a:rPr>
              <a:t>Livelihoods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31920"/>
            <a:ext cx="44485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C4C3"/>
                </a:solidFill>
                <a:latin typeface="Poppins"/>
              </a:rPr>
              <a:t>Harassment calls at work disrupt employment. Constant stress reduces productivity. Predatory debt makes decent work meaningless.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7356" y="1737360"/>
            <a:ext cx="5088636" cy="42062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9050">
            <a:solidFill>
              <a:srgbClr val="DD13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97396" y="2057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7396" y="20574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4EEEC"/>
                </a:solidFill>
                <a:latin typeface="Poppins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0396" y="2057400"/>
            <a:ext cx="33512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8E8C"/>
                </a:solidFill>
                <a:latin typeface="Poppins"/>
              </a:rPr>
              <a:t>SDG 10</a:t>
            </a: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4EEEC"/>
                </a:solidFill>
                <a:latin typeface="Poppins"/>
              </a:rPr>
              <a:t>Reduced Inequalities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7396" y="3337560"/>
            <a:ext cx="44485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DD1367"/>
                </a:solidFill>
                <a:latin typeface="Poppins"/>
              </a:rPr>
              <a:t>Inequality widens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7396" y="3931920"/>
            <a:ext cx="44485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C4C3"/>
                </a:solidFill>
                <a:latin typeface="Poppins"/>
              </a:rPr>
              <a:t>Vulnerable and marginalised groups face the highest risk of exploitation. Without safe credit, existing inequalities only grow.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006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864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4EEEC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548640"/>
            <a:ext cx="6400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C8E8C"/>
                </a:solidFill>
                <a:latin typeface="Poppins"/>
              </a:rPr>
              <a:t>SDG 16</a:t>
            </a:r>
          </a:p>
          <a:p>
            <a:pPr algn="l">
              <a:spcBef>
                <a:spcPts val="0"/>
              </a:spcBef>
            </a:pPr>
            <a:r>
              <a:rPr sz="1800" b="1">
                <a:solidFill>
                  <a:srgbClr val="F4EEEC"/>
                </a:solidFill>
                <a:latin typeface="Poppins"/>
              </a:rPr>
              <a:t>Peace, Justice &amp; Strong Institutions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Threats, data abuse &amp; eroding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3331464" cy="16459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62656"/>
            <a:ext cx="2874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5FB0E8"/>
                </a:solidFill>
                <a:latin typeface="Poppins"/>
              </a:rPr>
              <a:t>Threats &amp; fake legal notices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48088"/>
            <a:ext cx="28742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Create constant fear and insecurity, undermining personal safety and dignity.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8744" y="2743200"/>
            <a:ext cx="3331464" cy="16459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7344" y="2962656"/>
            <a:ext cx="2874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5FB0E8"/>
                </a:solidFill>
                <a:latin typeface="Poppins"/>
              </a:rPr>
              <a:t>Privacy violations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344" y="3248088"/>
            <a:ext cx="28742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Misuse of personal data weakens trust in digital institutions and financial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527" y="2743200"/>
            <a:ext cx="3331464" cy="16459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3127" y="2962656"/>
            <a:ext cx="2874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5FB0E8"/>
                </a:solidFill>
                <a:latin typeface="Poppins"/>
              </a:rPr>
              <a:t>No accessible justice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3127" y="3248088"/>
            <a:ext cx="28742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Victims lack clear pathways for accountability, leaving exploiters unchallenged.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0C1C28"/>
          </a:solidFill>
          <a:ln w="12700">
            <a:solidFill>
              <a:srgbClr val="5FB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910328"/>
            <a:ext cx="54864" cy="557784"/>
          </a:xfrm>
          <a:prstGeom prst="rect">
            <a:avLst/>
          </a:prstGeom>
          <a:solidFill>
            <a:srgbClr val="5FB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800600"/>
            <a:ext cx="99943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5FB0E8"/>
                </a:solidFill>
                <a:latin typeface="Poppins"/>
              </a:rPr>
              <a:t>Without strong institutions </a:t>
            </a:r>
            <a:r>
              <a:rPr sz="1350" b="0">
                <a:solidFill>
                  <a:srgbClr val="F4EEEC"/>
                </a:solidFill>
                <a:latin typeface="Poppins"/>
              </a:rPr>
              <a:t>to regulate lending and protect data, digital finance becomes a tool of coercion.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329184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273198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227319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ONE PROBLEM, FOUR SDGs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430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F4EEEC"/>
                </a:solidFill>
                <a:latin typeface="Poppins"/>
              </a:rPr>
              <a:t>Digital finance must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3600" b="1">
                <a:solidFill>
                  <a:srgbClr val="E63946"/>
                </a:solidFill>
                <a:latin typeface="Poppins"/>
              </a:rPr>
              <a:t>empower</a:t>
            </a:r>
            <a:r>
              <a:rPr sz="3600" b="1">
                <a:solidFill>
                  <a:srgbClr val="F4EEEC"/>
                </a:solidFill>
                <a:latin typeface="Poppins"/>
              </a:rPr>
              <a:t>, not exploit.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2430018" cy="18288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2430018" cy="73152"/>
          </a:xfrm>
          <a:prstGeom prst="rect">
            <a:avLst/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063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18813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EEEC"/>
                </a:solidFill>
                <a:latin typeface="Poppins"/>
              </a:rPr>
              <a:t>Deepens poverty &amp; debt traps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7297" y="2743200"/>
            <a:ext cx="2430018" cy="18288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7297" y="2743200"/>
            <a:ext cx="2430018" cy="73152"/>
          </a:xfrm>
          <a:prstGeom prst="rect">
            <a:avLst/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01618" y="3063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1618" y="3063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EEEC"/>
                </a:solidFill>
                <a:latin typeface="Poppins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1618" y="3840480"/>
            <a:ext cx="18813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EEEC"/>
                </a:solidFill>
                <a:latin typeface="Poppins"/>
              </a:rPr>
              <a:t>Disrupts livelihoods &amp;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2743200"/>
            <a:ext cx="2430018" cy="18288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2743200"/>
            <a:ext cx="2430018" cy="73152"/>
          </a:xfrm>
          <a:prstGeom prst="rect">
            <a:avLst/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05955" y="3063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5" y="3063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EEEC"/>
                </a:solidFill>
                <a:latin typeface="Poppins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5" y="3840480"/>
            <a:ext cx="18813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EEEC"/>
                </a:solidFill>
                <a:latin typeface="Poppins"/>
              </a:rPr>
              <a:t>Widens existing inequalities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5974" y="2743200"/>
            <a:ext cx="2430018" cy="18288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974" y="2743200"/>
            <a:ext cx="2430018" cy="73152"/>
          </a:xfrm>
          <a:prstGeom prst="rect">
            <a:avLst/>
          </a:prstGeom>
          <a:solidFill>
            <a:srgbClr val="006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10294" y="306324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06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0294" y="30632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EEEC"/>
                </a:solidFill>
                <a:latin typeface="Poppins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0294" y="3840480"/>
            <a:ext cx="18813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EEEC"/>
                </a:solidFill>
                <a:latin typeface="Poppins"/>
              </a:rPr>
              <a:t>Erodes trust &amp; justice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37760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C4C3"/>
                </a:solidFill>
                <a:latin typeface="Poppins"/>
              </a:rPr>
              <a:t>Loan-app harassment is not just a fintech issue. It is a sustainable development crisis. Safe, fair and accountable digital finance is essential for inclusive growth in India.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356616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548993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54899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PROBLEM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Where the problem leaves victims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3179064" cy="16916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28600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286000"/>
            <a:ext cx="2310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Easy loan, hidden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07208"/>
            <a:ext cx="2721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₹5,000 promised, ₹3,500 paid, full repayment in 7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6032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63946"/>
                </a:solidFill>
                <a:latin typeface="Poppi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4944" y="2057400"/>
            <a:ext cx="3179064" cy="16916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33544" y="228600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3544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3896" y="2286000"/>
            <a:ext cx="2310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Threats &amp; blackmail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3544" y="2807208"/>
            <a:ext cx="2721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Contact lists, morphed photos and fake police notices.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8015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63946"/>
                </a:solidFill>
                <a:latin typeface="Poppi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6928" y="2057400"/>
            <a:ext cx="3179064" cy="16916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5528" y="228600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5528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5880" y="2286000"/>
            <a:ext cx="231038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Silence &amp; rebrand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5528" y="2807208"/>
            <a:ext cx="2721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The victim pays and stays quiet. The app returns under a new name.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11480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2A1A10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224528"/>
            <a:ext cx="54864" cy="55778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114800"/>
            <a:ext cx="99943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A261"/>
                </a:solidFill>
                <a:latin typeface="Poppins"/>
              </a:rPr>
              <a:t>What is missing: </a:t>
            </a:r>
            <a:r>
              <a:rPr sz="1350" b="0">
                <a:solidFill>
                  <a:srgbClr val="F4EEEC"/>
                </a:solidFill>
                <a:latin typeface="Poppins"/>
              </a:rPr>
              <a:t>a way for victims to fight back, together, with proof.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257800"/>
            <a:ext cx="530352" cy="530352"/>
          </a:xfrm>
          <a:prstGeom prst="roundRect">
            <a:avLst>
              <a:gd name="adj" fmla="val 18000"/>
            </a:avLst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81328" y="5257800"/>
            <a:ext cx="530352" cy="530352"/>
          </a:xfrm>
          <a:prstGeom prst="roundRect">
            <a:avLst>
              <a:gd name="adj" fmla="val 18000"/>
            </a:avLst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1328" y="525780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EEEC"/>
                </a:solidFill>
                <a:latin typeface="Poppins"/>
              </a:rPr>
              <a:t>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39696" y="5257800"/>
            <a:ext cx="530352" cy="530352"/>
          </a:xfrm>
          <a:prstGeom prst="roundRect">
            <a:avLst>
              <a:gd name="adj" fmla="val 18000"/>
            </a:avLst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39696" y="525780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EEEC"/>
                </a:solidFill>
                <a:latin typeface="Poppins"/>
              </a:rPr>
              <a:t>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98064" y="5257800"/>
            <a:ext cx="530352" cy="530352"/>
          </a:xfrm>
          <a:prstGeom prst="roundRect">
            <a:avLst>
              <a:gd name="adj" fmla="val 18000"/>
            </a:avLst>
          </a:prstGeom>
          <a:solidFill>
            <a:srgbClr val="006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98064" y="525780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EEEC"/>
                </a:solidFill>
                <a:latin typeface="Poppins"/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79" y="5257800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9C8E8C"/>
                </a:solidFill>
                <a:latin typeface="Poppins"/>
              </a:rPr>
              <a:t>Our solution answers each stage of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307592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307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What our solution sets out to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24028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24028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EEEC"/>
                </a:solidFill>
                <a:latin typeface="Poppins"/>
              </a:rPr>
              <a:t>Calm the victim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61488"/>
            <a:ext cx="2874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Answer every threat with the facts and the law it breaks.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8744" y="2011680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57344" y="224028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7344" y="2240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696" y="224028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EEEC"/>
                </a:solidFill>
                <a:latin typeface="Poppins"/>
              </a:rPr>
              <a:t>Build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344" y="2761488"/>
            <a:ext cx="2874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Seal each message as tamper-proof proof.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4527" y="2011680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3127" y="224028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127" y="2240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3479" y="224028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EEEC"/>
                </a:solidFill>
                <a:latin typeface="Poppins"/>
              </a:rPr>
              <a:t>Protect the contacts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3127" y="2761488"/>
            <a:ext cx="2874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Warn family and friends before the scammers reach them.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77639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" y="4206240"/>
            <a:ext cx="384048" cy="38404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20624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EEEC"/>
                </a:solidFill>
                <a:latin typeface="Poppins"/>
              </a:rPr>
              <a:t>Unmask the operator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27448"/>
            <a:ext cx="2874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Link rebranded apps by UPI ID, phone number and wording.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8744" y="3977639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7344" y="4206240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7344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7696" y="420624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EEEC"/>
                </a:solidFill>
                <a:latin typeface="Poppins"/>
              </a:rPr>
              <a:t>Offer a fair alternative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7344" y="4727448"/>
            <a:ext cx="2874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Small, fair loans through SHGs and microfinance groups.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34527" y="3977639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63127" y="4206240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3127" y="4206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3479" y="420624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EEEC"/>
                </a:solidFill>
                <a:latin typeface="Poppins"/>
              </a:rPr>
              <a:t>Reach everyone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7" y="4727448"/>
            <a:ext cx="28742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FC4C3"/>
                </a:solidFill>
                <a:latin typeface="Poppins"/>
              </a:rPr>
              <a:t>Tamil, Hindi and English; help for people who can’t use phones.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731520"/>
            <a:ext cx="5486400" cy="548640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468526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46852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4EEEC"/>
                </a:solidFill>
                <a:latin typeface="Poppins"/>
              </a:rPr>
              <a:t>LoanShield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4EEEC"/>
                </a:solidFill>
                <a:latin typeface="Poppins"/>
              </a:rPr>
              <a:t>Their threats become </a:t>
            </a:r>
            <a:r>
              <a:rPr sz="2400" b="1">
                <a:solidFill>
                  <a:srgbClr val="E63946"/>
                </a:solidFill>
                <a:latin typeface="Poppins"/>
              </a:rPr>
              <a:t>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514600"/>
            <a:ext cx="914400" cy="5486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CFC4C3"/>
                </a:solidFill>
                <a:latin typeface="Poppins"/>
              </a:rPr>
              <a:t>A community system with a website at its centre. Other tools try to block the threats. LoanShield turns each one into a fact for the victim and evidence against the operator.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914400" cy="5029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4EEEC"/>
                </a:solidFill>
                <a:latin typeface="Poppins"/>
              </a:rPr>
              <a:t>Flip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93192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4EEEC"/>
                </a:solidFill>
                <a:latin typeface="Poppins"/>
              </a:rPr>
              <a:t>Every threat is answered with what is actually true.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914400" cy="5029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4EEEC"/>
                </a:solidFill>
                <a:latin typeface="Poppins"/>
              </a:rPr>
              <a:t>Seal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61772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4EEEC"/>
                </a:solidFill>
                <a:latin typeface="Poppins"/>
              </a:rPr>
              <a:t>Every message becomes tamper-proof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03520"/>
            <a:ext cx="914400" cy="5029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4EEEC"/>
                </a:solidFill>
                <a:latin typeface="Poppins"/>
              </a:rPr>
              <a:t>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30352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F4EEEC"/>
                </a:solidFill>
                <a:latin typeface="Poppins"/>
              </a:rPr>
              <a:t>Every UPI ID leads back to one operator.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1115568"/>
            <a:ext cx="4992624" cy="2720911"/>
          </a:xfrm>
          <a:prstGeom prst="roundRect">
            <a:avLst>
              <a:gd name="adj" fmla="val 4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_hero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88720"/>
            <a:ext cx="4846320" cy="25746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46520" y="4206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4A261"/>
                </a:solidFill>
                <a:latin typeface="Poppins"/>
              </a:rPr>
              <a:t>Live  </a:t>
            </a:r>
            <a:r>
              <a:rPr sz="1150" b="0">
                <a:solidFill>
                  <a:srgbClr val="CFC4C3"/>
                </a:solidFill>
                <a:latin typeface="Poppins"/>
              </a:rPr>
              <a:t>https://karthik705.github.io/loanshield/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329184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468526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46852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Five stages, one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903780" cy="29718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21671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671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67128"/>
            <a:ext cx="10808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Prevent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761488"/>
            <a:ext cx="1538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4A261"/>
                </a:solidFill>
                <a:latin typeface="Poppins"/>
              </a:rPr>
              <a:t>COMMUNITY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108960"/>
            <a:ext cx="15380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• Real-cost camps at SHGs and colleges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CFC4C3"/>
                </a:solidFill>
                <a:latin typeface="Poppins"/>
              </a:rPr>
              <a:t>• Fair small loans via SHGs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1876" y="32004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C8E8C"/>
                </a:solidFill>
                <a:latin typeface="Poppi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82772" y="1965960"/>
            <a:ext cx="1903780" cy="29718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83940" y="2167128"/>
            <a:ext cx="420624" cy="420624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3940" y="21671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4EEEC"/>
                </a:solidFill>
                <a:latin typeface="Poppi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292" y="2167128"/>
            <a:ext cx="10808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3940" y="2761488"/>
            <a:ext cx="1538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Poppins"/>
              </a:rP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940" y="3108960"/>
            <a:ext cx="15380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• Links reports by UPI ID and number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CFC4C3"/>
                </a:solidFill>
                <a:latin typeface="Poppins"/>
              </a:rPr>
              <a:t>• Public only after 3 people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1689" y="32004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C8E8C"/>
                </a:solidFill>
                <a:latin typeface="Poppin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42585" y="1965960"/>
            <a:ext cx="1903780" cy="29718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43753" y="2167128"/>
            <a:ext cx="420624" cy="420624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3753" y="21671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4EEEC"/>
                </a:solidFill>
                <a:latin typeface="Poppi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4105" y="2167128"/>
            <a:ext cx="10808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Protect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3753" y="2761488"/>
            <a:ext cx="1538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Poppins"/>
              </a:rPr>
              <a:t>WEBSITE + NGO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3753" y="3108960"/>
            <a:ext cx="15380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• Flips each threat into fact and law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CFC4C3"/>
                </a:solidFill>
                <a:latin typeface="Poppins"/>
              </a:rPr>
              <a:t>• Warns contacts in 3 languages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1502" y="32004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C8E8C"/>
                </a:solidFill>
                <a:latin typeface="Poppin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02398" y="1965960"/>
            <a:ext cx="1903780" cy="29718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03566" y="21671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03566" y="21671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4EEEC"/>
                </a:solidFill>
                <a:latin typeface="Poppin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3918" y="2167128"/>
            <a:ext cx="10808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Respond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3566" y="2761488"/>
            <a:ext cx="1538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4A261"/>
                </a:solidFill>
                <a:latin typeface="Poppins"/>
              </a:rPr>
              <a:t>COMMUNITY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3566" y="3108960"/>
            <a:ext cx="15380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• Legal-aid clinics help file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CFC4C3"/>
                </a:solidFill>
                <a:latin typeface="Poppins"/>
              </a:rPr>
              <a:t>• Leaked-photo takedowns by NGOs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1315" y="32004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C8E8C"/>
                </a:solidFill>
                <a:latin typeface="Poppin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2211" y="1965960"/>
            <a:ext cx="1903780" cy="297180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63379" y="2167128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63379" y="21671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4EEEC"/>
                </a:solidFill>
                <a:latin typeface="Poppin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3731" y="2167128"/>
            <a:ext cx="10808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Reform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63379" y="2761488"/>
            <a:ext cx="1538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4A261"/>
                </a:solidFill>
                <a:latin typeface="Poppins"/>
              </a:rPr>
              <a:t>COMMUNITY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3379" y="3108960"/>
            <a:ext cx="15380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• Public dashboard of operators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CFC4C3"/>
                </a:solidFill>
                <a:latin typeface="Poppins"/>
              </a:rPr>
              <a:t>• Reports to app stores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212080"/>
            <a:ext cx="10543032" cy="640080"/>
          </a:xfrm>
          <a:prstGeom prst="roundRect">
            <a:avLst>
              <a:gd name="adj" fmla="val 8000"/>
            </a:avLst>
          </a:prstGeom>
          <a:solidFill>
            <a:srgbClr val="2A1A10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" y="5321808"/>
            <a:ext cx="54864" cy="420623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5212080"/>
            <a:ext cx="9994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A261"/>
                </a:solidFill>
                <a:latin typeface="Poppins"/>
              </a:rPr>
              <a:t>↺  Loop: </a:t>
            </a:r>
            <a:r>
              <a:rPr sz="1350" b="0">
                <a:solidFill>
                  <a:srgbClr val="F4EEEC"/>
                </a:solidFill>
                <a:latin typeface="Poppins"/>
              </a:rPr>
              <a:t>hotspots found in Reform decide where the next Prevent camps run.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9893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63946"/>
                </a:solidFill>
                <a:latin typeface="Poppins"/>
              </a:rPr>
              <a:t>●  </a:t>
            </a:r>
            <a:r>
              <a:rPr sz="1000" b="0">
                <a:solidFill>
                  <a:srgbClr val="9C8E8C"/>
                </a:solidFill>
                <a:latin typeface="Poppins"/>
              </a:rPr>
              <a:t>Carried by the website        </a:t>
            </a:r>
            <a:r>
              <a:rPr sz="1000" b="0">
                <a:solidFill>
                  <a:srgbClr val="F4A261"/>
                </a:solidFill>
                <a:latin typeface="Poppins"/>
              </a:rPr>
              <a:t>●  </a:t>
            </a:r>
            <a:r>
              <a:rPr sz="1000" b="0">
                <a:solidFill>
                  <a:srgbClr val="9C8E8C"/>
                </a:solidFill>
                <a:latin typeface="Poppins"/>
              </a:rPr>
              <a:t>Carried by people and partners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319272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3192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THE WEBSITE: ONE PART OF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Paste a threat. Watch it flip.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85415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4EEEC"/>
                </a:solidFill>
                <a:latin typeface="Poppins"/>
              </a:rPr>
              <a:t>Speak, paste or 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31478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FC4C3"/>
                </a:solidFill>
                <a:latin typeface="Poppins"/>
              </a:rPr>
              <a:t>Say what happened; the key details are pulled 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44952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64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63946"/>
                </a:solidFill>
                <a:latin typeface="Poppins"/>
              </a:rPr>
              <a:t>Fear → 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1047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FC4C3"/>
                </a:solidFill>
                <a:latin typeface="Poppins"/>
              </a:rPr>
              <a:t>Each threat card turns over to show the truth and the law.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23944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3434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4EEEC"/>
                </a:solidFill>
                <a:latin typeface="Poppins"/>
              </a:rPr>
              <a:t>Protect me in one tap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8946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FC4C3"/>
                </a:solidFill>
                <a:latin typeface="Poppins"/>
              </a:rPr>
              <a:t>Seals it, links the operator, writes the warning and complaint.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02936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42239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4EEEC"/>
                </a:solidFill>
                <a:latin typeface="Poppins"/>
              </a:rPr>
              <a:t>Case 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668454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FC4C3"/>
                </a:solidFill>
                <a:latin typeface="Poppins"/>
              </a:rPr>
              <a:t>Evidence, laws, operator, warning and complaint in one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1938528"/>
            <a:ext cx="6821424" cy="2425733"/>
          </a:xfrm>
          <a:prstGeom prst="roundRect">
            <a:avLst>
              <a:gd name="adj" fmla="val 4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_car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11680"/>
            <a:ext cx="6675120" cy="227942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44568" y="4492277"/>
            <a:ext cx="6821424" cy="2089505"/>
          </a:xfrm>
          <a:prstGeom prst="roundRect">
            <a:avLst>
              <a:gd name="adj" fmla="val 4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_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565429"/>
            <a:ext cx="6675120" cy="19432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356616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307592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307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Simple tools, chosen to reach everyone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31136"/>
            <a:ext cx="2874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3946"/>
                </a:solidFill>
                <a:latin typeface="Poppins"/>
              </a:rPr>
              <a:t>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70048"/>
            <a:ext cx="28742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C"/>
                </a:solidFill>
                <a:latin typeface="Poppins"/>
              </a:rPr>
              <a:t>Opens in any phone browser. No app to install.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273552"/>
            <a:ext cx="2874264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64992"/>
            <a:ext cx="2874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8E8C"/>
                </a:solidFill>
                <a:latin typeface="Poppins"/>
              </a:rPr>
              <a:t>HTML · CSS · JavaScript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8744" y="2011680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7344" y="2231136"/>
            <a:ext cx="2874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3946"/>
                </a:solidFill>
                <a:latin typeface="Poppins"/>
              </a:rPr>
              <a:t>Reading 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344" y="2670048"/>
            <a:ext cx="28742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C"/>
                </a:solidFill>
                <a:latin typeface="Poppins"/>
              </a:rPr>
              <a:t>Spots threat words in English, Hindi and Tamil.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7344" y="3273552"/>
            <a:ext cx="2874264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7344" y="3364992"/>
            <a:ext cx="2874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8E8C"/>
                </a:solidFill>
                <a:latin typeface="Poppins"/>
              </a:rPr>
              <a:t>Keyword detection + AI for screenshots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4527" y="2011680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3127" y="2231136"/>
            <a:ext cx="2874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3946"/>
                </a:solidFill>
                <a:latin typeface="Poppins"/>
              </a:rPr>
              <a:t>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7" y="2670048"/>
            <a:ext cx="28742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C"/>
                </a:solidFill>
                <a:latin typeface="Poppins"/>
              </a:rPr>
              <a:t>Speak instead of typing; hear the facts read 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3127" y="3273552"/>
            <a:ext cx="2874264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127" y="3364992"/>
            <a:ext cx="2874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8E8C"/>
                </a:solidFill>
                <a:latin typeface="Poppins"/>
              </a:rPr>
              <a:t>Phone’s built-in speech 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77639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197096"/>
            <a:ext cx="2874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3946"/>
                </a:solidFill>
                <a:latin typeface="Poppins"/>
              </a:rPr>
              <a:t>Evidence seal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636007"/>
            <a:ext cx="28742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C"/>
                </a:solidFill>
                <a:latin typeface="Poppins"/>
              </a:rPr>
              <a:t>A digital fingerprint shows if anything changed.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5239512"/>
            <a:ext cx="2874264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330952"/>
            <a:ext cx="2874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8E8C"/>
                </a:solidFill>
                <a:latin typeface="Poppins"/>
              </a:rPr>
              <a:t>SHA-256 hashing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8744" y="3977639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7344" y="4197096"/>
            <a:ext cx="2874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3946"/>
                </a:solidFill>
                <a:latin typeface="Poppins"/>
              </a:rPr>
              <a:t>Linking operators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7344" y="4636007"/>
            <a:ext cx="28742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C"/>
                </a:solidFill>
                <a:latin typeface="Poppins"/>
              </a:rPr>
              <a:t>Matches UPI IDs and numbers across reports.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57344" y="5239512"/>
            <a:ext cx="2874264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7344" y="5330952"/>
            <a:ext cx="2874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8E8C"/>
                </a:solidFill>
                <a:latin typeface="Poppins"/>
              </a:rPr>
              <a:t>Pattern matching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34527" y="3977639"/>
            <a:ext cx="3331464" cy="173736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3127" y="4197096"/>
            <a:ext cx="2874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63946"/>
                </a:solidFill>
                <a:latin typeface="Poppins"/>
              </a:rPr>
              <a:t>Privacy &amp; hosting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7" y="4636007"/>
            <a:ext cx="28742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4EEEC"/>
                </a:solidFill>
                <a:latin typeface="Poppins"/>
              </a:rPr>
              <a:t>Checked on the phone; shared only by choice.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3127" y="5239512"/>
            <a:ext cx="2874264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3127" y="5330952"/>
            <a:ext cx="2874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8E8C"/>
                </a:solidFill>
                <a:latin typeface="Poppins"/>
              </a:rPr>
              <a:t>Free hosting on GitHub Pages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329184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158337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15833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FOR PEOPLE WHO STRUGGLE WITH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Two ways in: do it yourself, or get assistance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31136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3946"/>
                </a:solidFill>
                <a:latin typeface="Poppins"/>
              </a:rPr>
              <a:t>Do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96883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Paste, speak or upload a screenshot. About a minute.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79" y="20116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79" y="2231136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A261"/>
                </a:solidFill>
                <a:latin typeface="Poppins"/>
              </a:rPr>
              <a:t>Someone is with 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2496883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Helper mode: big text, 4 simple steps, read aloud.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118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831336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A261"/>
                </a:solidFill>
                <a:latin typeface="Poppins"/>
              </a:rPr>
              <a:t>Call me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097083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A trained NGO volunteer calls in their language.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79" y="361188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79" y="3831336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A261"/>
                </a:solidFill>
                <a:latin typeface="Poppins"/>
              </a:rPr>
              <a:t>Their language, out 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4097083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Tamil, Hindi or English; facts are spoken.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49240"/>
            <a:ext cx="10543032" cy="685800"/>
          </a:xfrm>
          <a:prstGeom prst="roundRect">
            <a:avLst>
              <a:gd name="adj" fmla="val 8000"/>
            </a:avLst>
          </a:prstGeom>
          <a:solidFill>
            <a:srgbClr val="2A1A10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458968"/>
            <a:ext cx="54864" cy="46634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349240"/>
            <a:ext cx="99943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A261"/>
                </a:solidFill>
                <a:latin typeface="Poppins"/>
              </a:rPr>
              <a:t>No smartphone at all? </a:t>
            </a:r>
            <a:r>
              <a:rPr sz="1350" b="0">
                <a:solidFill>
                  <a:srgbClr val="F4EEEC"/>
                </a:solidFill>
                <a:latin typeface="Poppins"/>
              </a:rPr>
              <a:t>Student volunteers run weekly help desks at SHG meetings and do every step for them.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6248" y="1984248"/>
            <a:ext cx="4809744" cy="1927359"/>
          </a:xfrm>
          <a:prstGeom prst="roundRect">
            <a:avLst>
              <a:gd name="adj" fmla="val 4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n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4663440" cy="17810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595067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259506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WHEN A MORPHED PHOTO LEAKS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Evidence is not enough. Dignity comes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3331464" cy="26974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3331464" cy="7315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2874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Poppins"/>
              </a:rPr>
              <a:t>Before it spreads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287426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• Contact Shield warns family first: “any photo of me is fake”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FC4C3"/>
                </a:solidFill>
                <a:latin typeface="Poppins"/>
              </a:rPr>
              <a:t>• The photo arrives already discredited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8744" y="1965960"/>
            <a:ext cx="3331464" cy="26974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8744" y="1965960"/>
            <a:ext cx="3331464" cy="7315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7344" y="2240280"/>
            <a:ext cx="2874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3946"/>
                </a:solidFill>
                <a:latin typeface="Poppins"/>
              </a:rPr>
              <a:t>Within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344" y="2743200"/>
            <a:ext cx="287426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• Ready takedown request for each platform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FC4C3"/>
                </a:solidFill>
                <a:latin typeface="Poppins"/>
              </a:rPr>
              <a:t>• Platforms must act within 2 hours of a complaint (IT Rules, 2026)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FC4C3"/>
                </a:solidFill>
                <a:latin typeface="Poppins"/>
              </a:rPr>
              <a:t>• StopNCII blocks re-uploads; the image never leaves the phone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4527" y="1965960"/>
            <a:ext cx="3331464" cy="26974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4527" y="1965960"/>
            <a:ext cx="3331464" cy="73152"/>
          </a:xfrm>
          <a:prstGeom prst="rect">
            <a:avLst/>
          </a:prstGeom>
          <a:solidFill>
            <a:srgbClr val="5FB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3127" y="2240280"/>
            <a:ext cx="2874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FB0E8"/>
                </a:solidFill>
                <a:latin typeface="Poppins"/>
              </a:rPr>
              <a:t>For the person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3127" y="2743200"/>
            <a:ext cx="287426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• An NGO counsellor does the takedowns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FC4C3"/>
                </a:solidFill>
                <a:latin typeface="Poppins"/>
              </a:rPr>
              <a:t>• A woman volunteer on request</a:t>
            </a:r>
          </a:p>
          <a:p>
            <a:pPr algn="l">
              <a:spcBef>
                <a:spcPts val="700"/>
              </a:spcBef>
            </a:pPr>
            <a:r>
              <a:rPr sz="1100" b="0">
                <a:solidFill>
                  <a:srgbClr val="CFC4C3"/>
                </a:solidFill>
                <a:latin typeface="Poppins"/>
              </a:rPr>
              <a:t>• They never have to see it again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8348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93208"/>
            <a:ext cx="54864" cy="5577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983480"/>
            <a:ext cx="999439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3946"/>
                </a:solidFill>
                <a:latin typeface="Poppins"/>
              </a:rPr>
              <a:t>On the website: </a:t>
            </a:r>
            <a:r>
              <a:rPr sz="1350" b="0">
                <a:solidFill>
                  <a:srgbClr val="F4EEEC"/>
                </a:solidFill>
                <a:latin typeface="Poppins"/>
              </a:rPr>
              <a:t>“This photo is fake. Making it is the crime, not being in it.” One button opens the whole checklist.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356616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066190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6619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What is new in our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C8E8C"/>
                </a:solidFill>
                <a:latin typeface="Poppins"/>
              </a:rPr>
              <a:t>USUAL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874519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63946"/>
                </a:solidFill>
                <a:latin typeface="Poppins"/>
              </a:rPr>
              <a:t>LOANSHIELD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40280"/>
            <a:ext cx="4572000" cy="987552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40280"/>
            <a:ext cx="41148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8E8C"/>
                </a:solidFill>
                <a:latin typeface="Poppins"/>
              </a:rPr>
              <a:t>Spam blockers hide the message. The victim is still scared.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2496312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63946"/>
                </a:solidFill>
                <a:latin typeface="Poppi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240280"/>
            <a:ext cx="5376672" cy="987552"/>
          </a:xfrm>
          <a:prstGeom prst="roundRect">
            <a:avLst>
              <a:gd name="adj" fmla="val 8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86584"/>
            <a:ext cx="4873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EEEC"/>
                </a:solidFill>
                <a:latin typeface="Poppins"/>
              </a:rPr>
              <a:t>Flips fear into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52344"/>
            <a:ext cx="48737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Each threat is answered with the truth and the law it breaks.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410712"/>
            <a:ext cx="4572000" cy="987552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410712"/>
            <a:ext cx="41148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8E8C"/>
                </a:solidFill>
                <a:latin typeface="Poppins"/>
              </a:rPr>
              <a:t>More threats mean more fear. Each victim complains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366674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63946"/>
                </a:solidFill>
                <a:latin typeface="Poppi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410712"/>
            <a:ext cx="5376672" cy="987552"/>
          </a:xfrm>
          <a:prstGeom prst="roundRect">
            <a:avLst>
              <a:gd name="adj" fmla="val 8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557016"/>
            <a:ext cx="4873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EEEC"/>
                </a:solidFill>
                <a:latin typeface="Poppins"/>
              </a:rPr>
              <a:t>Every threat builds the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922776"/>
            <a:ext cx="48737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Messages are sealed as evidence; contacts are warned first.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81144"/>
            <a:ext cx="4572000" cy="987552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81144"/>
            <a:ext cx="41148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8E8C"/>
                </a:solidFill>
                <a:latin typeface="Poppins"/>
              </a:rPr>
              <a:t>One app is reported. It returns next week with a new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4837176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63946"/>
                </a:solidFill>
                <a:latin typeface="Poppin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4581144"/>
            <a:ext cx="5376672" cy="987552"/>
          </a:xfrm>
          <a:prstGeom prst="roundRect">
            <a:avLst>
              <a:gd name="adj" fmla="val 8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727448"/>
            <a:ext cx="4873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EEEC"/>
                </a:solidFill>
                <a:latin typeface="Poppins"/>
              </a:rPr>
              <a:t>Follows the 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093208"/>
            <a:ext cx="48737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Reports sharing a UPI ID or number join into one operator.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105430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Poppins"/>
              </a:rPr>
              <a:t>Other tools defend one phone. LoanShield turns every victim’s report into one case against the operator.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307592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307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SDG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How the solution serves the SDGs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5212080" cy="4069080"/>
          </a:xfrm>
          <a:prstGeom prst="roundRect">
            <a:avLst>
              <a:gd name="adj" fmla="val 8000"/>
            </a:avLst>
          </a:prstGeom>
          <a:solidFill>
            <a:srgbClr val="0C1C28"/>
          </a:solidFill>
          <a:ln w="19050">
            <a:solidFill>
              <a:srgbClr val="0068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22860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006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2860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4EEEC"/>
                </a:solidFill>
                <a:latin typeface="Poppin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86000"/>
            <a:ext cx="3566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B0E8"/>
                </a:solidFill>
                <a:latin typeface="Poppins"/>
              </a:rPr>
              <a:t>MAJOR SDG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4EEEC"/>
                </a:solidFill>
                <a:latin typeface="Poppins"/>
              </a:rPr>
              <a:t>Peace, Justice &amp; Strong Institutions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2044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6E2"/>
                </a:solidFill>
                <a:latin typeface="Poppins"/>
              </a:rPr>
              <a:t>•  Access to justice: sealed evidence and legal-aid help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C9D6E2"/>
                </a:solidFill>
                <a:latin typeface="Poppins"/>
              </a:rPr>
              <a:t>•  Less fear: threats answered with facts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C9D6E2"/>
                </a:solidFill>
                <a:latin typeface="Poppins"/>
              </a:rPr>
              <a:t>•  Accountability: operators named, not just apps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C9D6E2"/>
                </a:solidFill>
                <a:latin typeface="Poppins"/>
              </a:rPr>
              <a:t>•  Privacy: checked on the phone, shared by consent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65960"/>
            <a:ext cx="5056631" cy="12344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2258568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2585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67128"/>
            <a:ext cx="37764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EEEC"/>
                </a:solidFill>
                <a:latin typeface="Poppins"/>
              </a:rPr>
              <a:t>SDG 1  ·  No Poverty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532888"/>
            <a:ext cx="37764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Fair SHG loans and real-cost checks break the debt trap.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383280"/>
            <a:ext cx="5056631" cy="12344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3675888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6758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EEEC"/>
                </a:solidFill>
                <a:latin typeface="Poppins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584448"/>
            <a:ext cx="37764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EEEC"/>
                </a:solidFill>
                <a:latin typeface="Poppins"/>
              </a:rPr>
              <a:t>SDG 8  ·  Decent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950208"/>
            <a:ext cx="37764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Contact warnings keep threats away from employers.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800600"/>
            <a:ext cx="5056631" cy="12344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5093208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09320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EEEC"/>
                </a:solidFill>
                <a:latin typeface="Poppin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001768"/>
            <a:ext cx="37764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4EEEC"/>
                </a:solidFill>
                <a:latin typeface="Poppins"/>
              </a:rPr>
              <a:t>SDG 10  ·  Reduced Inequalities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367528"/>
            <a:ext cx="37764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Local languages and assisted help reach low-literacy users.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329184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951329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95132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FUNDING &amp;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Run with cyber-safety NGOs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3331464" cy="17830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85415"/>
            <a:ext cx="2874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CyberPeace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70848"/>
            <a:ext cx="28742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Cyber-safety NGO. Pilot funding, counsellor network and victim helpdesk.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8744" y="1965960"/>
            <a:ext cx="3331464" cy="17830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7344" y="2185415"/>
            <a:ext cx="2874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Responsible Netism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2470848"/>
            <a:ext cx="28742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Online-safety NGO. Awareness workshops in colleges and communities.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4527" y="1965960"/>
            <a:ext cx="3331464" cy="17830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3127" y="2185415"/>
            <a:ext cx="2874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Cyber Society of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7" y="2470848"/>
            <a:ext cx="287426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Chennai-based cyber awareness body. Volunteer training for our pilot.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23360"/>
            <a:ext cx="5134355" cy="6400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23360"/>
            <a:ext cx="46771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4EEEC"/>
                </a:solidFill>
                <a:latin typeface="Poppins"/>
              </a:rPr>
              <a:t>CSR grants:  </a:t>
            </a:r>
            <a:r>
              <a:rPr sz="1150" b="0">
                <a:solidFill>
                  <a:srgbClr val="CFC4C3"/>
                </a:solidFill>
                <a:latin typeface="Poppins"/>
              </a:rPr>
              <a:t>from responsible fintech companies and banks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4023360"/>
            <a:ext cx="5134355" cy="6400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0236" y="4023360"/>
            <a:ext cx="46771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4EEEC"/>
                </a:solidFill>
                <a:latin typeface="Poppins"/>
              </a:rPr>
              <a:t>Law-college clinics:  </a:t>
            </a:r>
            <a:r>
              <a:rPr sz="1150" b="0">
                <a:solidFill>
                  <a:srgbClr val="CFC4C3"/>
                </a:solidFill>
                <a:latin typeface="Poppins"/>
              </a:rPr>
              <a:t>pro-bono legal help for filing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28032"/>
            <a:ext cx="5134355" cy="6400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28032"/>
            <a:ext cx="46771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4EEEC"/>
                </a:solidFill>
                <a:latin typeface="Poppins"/>
              </a:rPr>
              <a:t>SHGs &amp; microfinance groups:  </a:t>
            </a:r>
            <a:r>
              <a:rPr sz="1150" b="0">
                <a:solidFill>
                  <a:srgbClr val="CFC4C3"/>
                </a:solidFill>
                <a:latin typeface="Poppins"/>
              </a:rPr>
              <a:t>the fair-loan alternative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4828032"/>
            <a:ext cx="5134355" cy="64008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0236" y="4828032"/>
            <a:ext cx="46771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F4EEEC"/>
                </a:solidFill>
                <a:latin typeface="Poppins"/>
              </a:rPr>
              <a:t>Student volunteers:  </a:t>
            </a:r>
            <a:r>
              <a:rPr sz="1150" b="0">
                <a:solidFill>
                  <a:srgbClr val="CFC4C3"/>
                </a:solidFill>
                <a:latin typeface="Poppins"/>
              </a:rPr>
              <a:t>NSS and social clubs run camps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C8E8C"/>
                </a:solidFill>
                <a:latin typeface="Poppins"/>
              </a:rPr>
              <a:t>Partners we plan to approach for the pilot. Running cost is low: the website is free to host.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2434132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24341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CHALLENGES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What makes it hard, and what it can’t do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5088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A261"/>
                </a:solidFill>
                <a:latin typeface="Poppins"/>
              </a:rPr>
              <a:t>CHALLENGES  →  HOW WE HANDLE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5088636" cy="768096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463143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EEEC"/>
                </a:solidFill>
                <a:latin typeface="Poppins"/>
              </a:rPr>
              <a:t>Apps rebrand in weeks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CFC4C3"/>
                </a:solidFill>
                <a:latin typeface="Poppins"/>
              </a:rPr>
              <a:t>→  link by UPI ID and number, not app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36392"/>
            <a:ext cx="5088636" cy="768096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36392"/>
            <a:ext cx="463143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EEEC"/>
                </a:solidFill>
                <a:latin typeface="Poppins"/>
              </a:rPr>
              <a:t>Shame stops reporting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CFC4C3"/>
                </a:solidFill>
                <a:latin typeface="Poppins"/>
              </a:rPr>
              <a:t>→  private by default, NGO counsellors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32504"/>
            <a:ext cx="5088636" cy="768096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32504"/>
            <a:ext cx="463143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EEEC"/>
                </a:solidFill>
                <a:latin typeface="Poppins"/>
              </a:rPr>
              <a:t>False or spiteful reports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CFC4C3"/>
                </a:solidFill>
                <a:latin typeface="Poppins"/>
              </a:rPr>
              <a:t>→  public only after 3 different people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28616"/>
            <a:ext cx="5088636" cy="768096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928616"/>
            <a:ext cx="463143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EEEC"/>
                </a:solidFill>
                <a:latin typeface="Poppins"/>
              </a:rPr>
              <a:t>Low digital literacy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CFC4C3"/>
                </a:solidFill>
                <a:latin typeface="Poppins"/>
              </a:rPr>
              <a:t>→  assisted help, voice and local 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7356" y="1874519"/>
            <a:ext cx="50886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63946"/>
                </a:solidFill>
                <a:latin typeface="Poppins"/>
              </a:rPr>
              <a:t>LIMITATIONS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7356" y="2240280"/>
            <a:ext cx="5088636" cy="585216"/>
          </a:xfrm>
          <a:prstGeom prst="roundRect">
            <a:avLst>
              <a:gd name="adj" fmla="val 8000"/>
            </a:avLst>
          </a:prstGeom>
          <a:solidFill>
            <a:srgbClr val="1F1216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5956" y="2240280"/>
            <a:ext cx="463143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E0CFD1"/>
                </a:solidFill>
                <a:latin typeface="Poppins"/>
              </a:rPr>
              <a:t>Keyword scanner can miss new wording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7356" y="2953512"/>
            <a:ext cx="5088636" cy="585216"/>
          </a:xfrm>
          <a:prstGeom prst="roundRect">
            <a:avLst>
              <a:gd name="adj" fmla="val 8000"/>
            </a:avLst>
          </a:prstGeom>
          <a:solidFill>
            <a:srgbClr val="1F1216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2953512"/>
            <a:ext cx="463143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E0CFD1"/>
                </a:solidFill>
                <a:latin typeface="Poppins"/>
              </a:rPr>
              <a:t>Tested on 50 team-written messages, not field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7356" y="3666744"/>
            <a:ext cx="5088636" cy="585216"/>
          </a:xfrm>
          <a:prstGeom prst="roundRect">
            <a:avLst>
              <a:gd name="adj" fmla="val 8000"/>
            </a:avLst>
          </a:prstGeom>
          <a:solidFill>
            <a:srgbClr val="1F1216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5956" y="3666744"/>
            <a:ext cx="463143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E0CFD1"/>
                </a:solidFill>
                <a:latin typeface="Poppins"/>
              </a:rPr>
              <a:t>Evidence is stored only on the victim’s own device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7356" y="4379976"/>
            <a:ext cx="5088636" cy="585216"/>
          </a:xfrm>
          <a:prstGeom prst="roundRect">
            <a:avLst>
              <a:gd name="adj" fmla="val 8000"/>
            </a:avLst>
          </a:prstGeom>
          <a:solidFill>
            <a:srgbClr val="1F1216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5956" y="4379976"/>
            <a:ext cx="463143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E0CFD1"/>
                </a:solidFill>
                <a:latin typeface="Poppins"/>
              </a:rPr>
              <a:t>Legal mapping is a guide, not legal advice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7356" y="5093208"/>
            <a:ext cx="5088636" cy="585216"/>
          </a:xfrm>
          <a:prstGeom prst="roundRect">
            <a:avLst>
              <a:gd name="adj" fmla="val 8000"/>
            </a:avLst>
          </a:prstGeom>
          <a:solidFill>
            <a:srgbClr val="1F1216"/>
          </a:solidFill>
          <a:ln w="12700">
            <a:solidFill>
              <a:srgbClr val="5A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5956" y="5093208"/>
            <a:ext cx="463143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E0CFD1"/>
                </a:solidFill>
                <a:latin typeface="Poppins"/>
              </a:rPr>
              <a:t>People-side stages depend on NGO partners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3566160"/>
            <a:ext cx="5120640" cy="512064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468526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46852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3946"/>
                </a:solidFill>
                <a:latin typeface="Poppins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EEEC"/>
                </a:solidFill>
                <a:latin typeface="Poppins"/>
              </a:rPr>
              <a:t>Where LoanShield goes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3331464" cy="16916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240280"/>
            <a:ext cx="384048" cy="384048"/>
          </a:xfrm>
          <a:prstGeom prst="ellipse">
            <a:avLst/>
          </a:prstGeom>
          <a:solidFill>
            <a:srgbClr val="5A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24028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Android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61488"/>
            <a:ext cx="2874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Share any message straight in; log late-night calls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8744" y="2011680"/>
            <a:ext cx="3331464" cy="16916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57344" y="2240280"/>
            <a:ext cx="384048" cy="384048"/>
          </a:xfrm>
          <a:prstGeom prst="ellipse">
            <a:avLst/>
          </a:prstGeom>
          <a:solidFill>
            <a:srgbClr val="5A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7344" y="2240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696" y="224028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Smarter 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344" y="2761488"/>
            <a:ext cx="2874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A trained model for Tamil, Telugu and Bengali threats.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4527" y="2011680"/>
            <a:ext cx="3331464" cy="16916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3127" y="2240280"/>
            <a:ext cx="384048" cy="384048"/>
          </a:xfrm>
          <a:prstGeom prst="ellipse">
            <a:avLst/>
          </a:prstGeom>
          <a:solidFill>
            <a:srgbClr val="5A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127" y="22402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3479" y="224028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WhatsApp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3127" y="2761488"/>
            <a:ext cx="2874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Forward a threat to one number; get the facts back as a voice note.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31920"/>
            <a:ext cx="3331464" cy="16916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" y="4160520"/>
            <a:ext cx="384048" cy="384048"/>
          </a:xfrm>
          <a:prstGeom prst="ellipse">
            <a:avLst/>
          </a:prstGeom>
          <a:solidFill>
            <a:srgbClr val="5A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1605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16052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Voice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681728"/>
            <a:ext cx="2874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Turn threatening voice messages into text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8744" y="3931920"/>
            <a:ext cx="3331464" cy="16916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7344" y="4160520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7344" y="41605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7696" y="416052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90-day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7344" y="4681728"/>
            <a:ext cx="2874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One SHG federation and one cyber-safety NGO in Chennai.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34527" y="3931920"/>
            <a:ext cx="3331464" cy="16916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63127" y="4160520"/>
            <a:ext cx="384048" cy="384048"/>
          </a:xfrm>
          <a:prstGeom prst="ellipse">
            <a:avLst/>
          </a:prstGeom>
          <a:solidFill>
            <a:srgbClr val="5A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3127" y="41605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4EEEC"/>
                </a:solidFill>
                <a:latin typeface="Poppin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3479" y="4160520"/>
            <a:ext cx="24627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4A261"/>
                </a:solidFill>
                <a:latin typeface="Poppins"/>
              </a:rPr>
              <a:t>Open data for NGOs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7" y="4681728"/>
            <a:ext cx="28742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C4C3"/>
                </a:solidFill>
                <a:latin typeface="Poppins"/>
              </a:rPr>
              <a:t>Share operator links with partners to speed up takedowns.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731520"/>
            <a:ext cx="5486400" cy="5486400"/>
          </a:xfrm>
          <a:prstGeom prst="ellipse">
            <a:avLst/>
          </a:prstGeom>
          <a:solidFill>
            <a:srgbClr val="1F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0"/>
            <a:ext cx="10543032" cy="9144"/>
          </a:xfrm>
          <a:prstGeom prst="rect">
            <a:avLst/>
          </a:prstGeom>
          <a:solidFill>
            <a:srgbClr val="2A1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6480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9C8E8C"/>
                </a:solidFill>
                <a:latin typeface="Poppins"/>
              </a:rPr>
              <a:t>LoanShield  ·  Social &amp;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51592" y="64648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9C8E8C"/>
                </a:solidFill>
                <a:latin typeface="Poppins"/>
              </a:rPr>
              <a:t>21</a:t>
            </a:r>
          </a:p>
        </p:txBody>
      </p:sp>
      <p:sp>
        <p:nvSpPr>
          <p:cNvPr id="6" name="Oval 5"/>
          <p:cNvSpPr/>
          <p:nvPr/>
        </p:nvSpPr>
        <p:spPr>
          <a:xfrm>
            <a:off x="7680960" y="822960"/>
            <a:ext cx="4206240" cy="4206240"/>
          </a:xfrm>
          <a:prstGeom prst="ellipse">
            <a:avLst/>
          </a:prstGeom>
          <a:solidFill>
            <a:srgbClr val="2A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914400"/>
            <a:ext cx="1299545" cy="329184"/>
          </a:xfrm>
          <a:prstGeom prst="roundRect">
            <a:avLst>
              <a:gd name="adj" fmla="val 50000"/>
            </a:avLst>
          </a:prstGeom>
          <a:solidFill>
            <a:srgbClr val="2A0E10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14400"/>
            <a:ext cx="129954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63946"/>
                </a:solidFill>
                <a:latin typeface="Poppin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7315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>
                <a:solidFill>
                  <a:srgbClr val="F4EEEC"/>
                </a:solidFill>
                <a:latin typeface="Poppins"/>
              </a:rPr>
              <a:t>Safer loans.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4600" b="1">
                <a:solidFill>
                  <a:srgbClr val="E63946"/>
                </a:solidFill>
                <a:latin typeface="Poppins"/>
              </a:rPr>
              <a:t>Stronger people.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37560"/>
            <a:ext cx="1188720" cy="5486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EEEC"/>
                </a:solidFill>
                <a:latin typeface="Poppins"/>
              </a:rPr>
              <a:t>Karthik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78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A261"/>
                </a:solidFill>
                <a:latin typeface="Poppins"/>
              </a:rPr>
              <a:t>23BRS1191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74903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EEEC"/>
                </a:solidFill>
                <a:latin typeface="Poppins"/>
              </a:rPr>
              <a:t>K Annu Prasath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078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A261"/>
                </a:solidFill>
                <a:latin typeface="Poppins"/>
              </a:rPr>
              <a:t>24BCE5409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7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EEEC"/>
                </a:solidFill>
                <a:latin typeface="Poppins"/>
              </a:rPr>
              <a:t>Pasunuru Sai Vivek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A261"/>
                </a:solidFill>
                <a:latin typeface="Poppins"/>
              </a:rPr>
              <a:t>24BCE1239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52627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4EEEC"/>
                </a:solidFill>
                <a:latin typeface="Poppins"/>
              </a:rPr>
              <a:t>Srinidhi Vishal Chejarla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85546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F4A261"/>
                </a:solidFill>
                <a:latin typeface="Poppins"/>
              </a:rPr>
              <a:t>24BCE1493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11680"/>
            <a:ext cx="3108960" cy="2377440"/>
          </a:xfrm>
          <a:prstGeom prst="roundRect">
            <a:avLst>
              <a:gd name="adj" fmla="val 8000"/>
            </a:avLst>
          </a:prstGeom>
          <a:solidFill>
            <a:srgbClr val="1A1313"/>
          </a:solidFill>
          <a:ln w="12700">
            <a:solidFill>
              <a:srgbClr val="3A2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228600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286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4EEEC"/>
                </a:solidFill>
                <a:latin typeface="Poppi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1089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EEEC"/>
                </a:solidFill>
                <a:latin typeface="Poppins"/>
              </a:rPr>
              <a:t>Try LoanShield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5204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C4C3"/>
                </a:solidFill>
                <a:latin typeface="Poppins"/>
              </a:rPr>
              <a:t>https://karthik705.github.io/loanshield/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486</Words>
  <Application>Microsoft Office PowerPoint</Application>
  <PresentationFormat>Widescreen</PresentationFormat>
  <Paragraphs>73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 Jeyamurugan</cp:lastModifiedBy>
  <cp:revision>4</cp:revision>
  <dcterms:created xsi:type="dcterms:W3CDTF">2013-01-27T09:14:16Z</dcterms:created>
  <dcterms:modified xsi:type="dcterms:W3CDTF">2026-08-20T06:48:59Z</dcterms:modified>
  <cp:category/>
</cp:coreProperties>
</file>